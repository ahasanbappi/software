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9"/>
  </p:notesMasterIdLst>
  <p:sldIdLst>
    <p:sldId id="256" r:id="rId5"/>
    <p:sldId id="313" r:id="rId6"/>
    <p:sldId id="293" r:id="rId7"/>
    <p:sldId id="295" r:id="rId8"/>
    <p:sldId id="297" r:id="rId9"/>
    <p:sldId id="314" r:id="rId10"/>
    <p:sldId id="299" r:id="rId11"/>
    <p:sldId id="298" r:id="rId12"/>
    <p:sldId id="307" r:id="rId13"/>
    <p:sldId id="308" r:id="rId14"/>
    <p:sldId id="309" r:id="rId15"/>
    <p:sldId id="310" r:id="rId16"/>
    <p:sldId id="312" r:id="rId17"/>
    <p:sldId id="31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E0889-E60A-46FA-B2B0-FB2460C54257}" v="2" dt="2026-02-15T15:40:25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 DEBNATH" userId="S::23-51891-2@student.aiub.edu::3bc05ddd-7d93-4790-961a-4ade7235ccb0" providerId="AD" clId="Web-{5A5E0889-E60A-46FA-B2B0-FB2460C54257}"/>
    <pc:docChg chg="modSld">
      <pc:chgData name="ANIK DEBNATH" userId="S::23-51891-2@student.aiub.edu::3bc05ddd-7d93-4790-961a-4ade7235ccb0" providerId="AD" clId="Web-{5A5E0889-E60A-46FA-B2B0-FB2460C54257}" dt="2026-02-15T15:40:25.971" v="1"/>
      <pc:docMkLst>
        <pc:docMk/>
      </pc:docMkLst>
      <pc:sldChg chg="mod modShow">
        <pc:chgData name="ANIK DEBNATH" userId="S::23-51891-2@student.aiub.edu::3bc05ddd-7d93-4790-961a-4ade7235ccb0" providerId="AD" clId="Web-{5A5E0889-E60A-46FA-B2B0-FB2460C54257}" dt="2026-02-15T15:40:25.971" v="1"/>
        <pc:sldMkLst>
          <pc:docMk/>
          <pc:sldMk cId="2664565021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>
                <a:solidFill>
                  <a:srgbClr val="FFFFFF"/>
                </a:solidFill>
              </a:rPr>
              <a:t>Course Name</a:t>
            </a:r>
            <a:br>
              <a:rPr lang="en-US" sz="2400" cap="all">
                <a:solidFill>
                  <a:srgbClr val="FFFFFF"/>
                </a:solidFill>
              </a:rPr>
            </a:br>
            <a:br>
              <a:rPr lang="en-US" sz="2400" cap="all">
                <a:solidFill>
                  <a:srgbClr val="FFFFFF"/>
                </a:solidFill>
              </a:rPr>
            </a:b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1</a:t>
            </a:r>
            <a:br>
              <a:rPr lang="en-US" sz="3000">
                <a:solidFill>
                  <a:srgbClr val="C00000"/>
                </a:solidFill>
              </a:rPr>
            </a:br>
            <a:br>
              <a:rPr lang="en-US" sz="300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9170807" y="3599399"/>
            <a:ext cx="286032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>
                <a:solidFill>
                  <a:srgbClr val="7030A0"/>
                </a:solidFill>
              </a:rPr>
              <a:t>Jubayer </a:t>
            </a:r>
            <a:r>
              <a:rPr lang="en-US" sz="2400" err="1">
                <a:solidFill>
                  <a:srgbClr val="7030A0"/>
                </a:solidFill>
              </a:rPr>
              <a:t>ahamed</a:t>
            </a:r>
            <a:endParaRPr lang="en-US" sz="2400">
              <a:solidFill>
                <a:srgbClr val="7030A0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000" cap="none">
                <a:solidFill>
                  <a:schemeClr val="tx1"/>
                </a:solidFill>
              </a:rPr>
              <a:t> </a:t>
            </a:r>
            <a:endParaRPr lang="en-US" sz="2300" cap="none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344270E6-900A-ECC5-70F8-9779BC90F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67859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7D435-A5B1-F296-B90B-4CE6D7D1AC8D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5"/>
              </a:rPr>
              <a:t>https://scholar.google.com/citations?view_op=list_works&amp;hl=en&amp;hl=en&amp;user=WXtW1XMAAAAJ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>
                <a:latin typeface="+mj-lt"/>
              </a:rPr>
              <a:t>A </a:t>
            </a:r>
            <a:r>
              <a:rPr lang="en-US" altLang="zh-TW" sz="220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>
                <a:latin typeface="+mj-lt"/>
              </a:rPr>
              <a:t> (intangible) rather than a </a:t>
            </a:r>
            <a:r>
              <a:rPr lang="en-US" altLang="zh-TW" sz="220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>
                <a:latin typeface="+mj-lt"/>
              </a:rPr>
              <a:t>Being </a:t>
            </a:r>
            <a:r>
              <a:rPr lang="en-US" altLang="zh-TW" sz="220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>
                <a:latin typeface="+mj-lt"/>
              </a:rPr>
              <a:t> but not being </a:t>
            </a:r>
            <a:r>
              <a:rPr lang="en-US" altLang="zh-TW" sz="220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>
                <a:latin typeface="+mj-lt"/>
              </a:rPr>
              <a:t>Software cost concentrating in </a:t>
            </a:r>
            <a:r>
              <a:rPr lang="en-US" altLang="zh-TW" sz="220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>
                <a:latin typeface="+mj-lt"/>
              </a:rPr>
              <a:t>, not in </a:t>
            </a:r>
            <a:r>
              <a:rPr lang="en-US" altLang="zh-TW" sz="220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>
                <a:latin typeface="+mj-lt"/>
              </a:rPr>
              <a:t>Software </a:t>
            </a:r>
            <a:r>
              <a:rPr lang="en-US" altLang="zh-TW" sz="220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>
                <a:latin typeface="+mj-lt"/>
              </a:rPr>
              <a:t> but “</a:t>
            </a:r>
            <a:r>
              <a:rPr lang="en-US" altLang="zh-TW" sz="220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>
                <a:latin typeface="+mj-lt"/>
              </a:rPr>
              <a:t>”(not destroyed after lifetime like hardware, but backdated by </a:t>
            </a:r>
            <a:r>
              <a:rPr lang="en-US" altLang="zh-TW" sz="220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>
                <a:ea typeface="PMingLiU" pitchFamily="18" charset="-120"/>
              </a:rPr>
              <a:t>Software is a ‘</a:t>
            </a:r>
            <a:r>
              <a:rPr lang="en-US" altLang="zh-TW" sz="220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>
                <a:ea typeface="PMingLiU" pitchFamily="18" charset="-120"/>
              </a:rPr>
              <a:t>’ (different sub-systems, e.g. </a:t>
            </a:r>
            <a:r>
              <a:rPr lang="en-GB" sz="220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>
                <a:ea typeface="PMingLiU" pitchFamily="18" charset="-120"/>
              </a:rPr>
              <a:t>)</a:t>
            </a:r>
            <a:endParaRPr lang="en-US" altLang="zh-TW" sz="220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>
                <a:latin typeface="+mj-lt"/>
              </a:rPr>
              <a:t>Without “</a:t>
            </a:r>
            <a:r>
              <a:rPr lang="en-US" altLang="zh-TW" sz="220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>
                <a:latin typeface="+mj-lt"/>
              </a:rPr>
              <a:t>A structured set of activities required to develop a software system</a:t>
            </a:r>
            <a:endParaRPr lang="en-US" sz="200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>
                <a:latin typeface="+mj-lt"/>
                <a:ea typeface="PMingLiU" pitchFamily="18" charset="-120"/>
              </a:rPr>
            </a:br>
            <a:endParaRPr lang="en-US" altLang="zh-TW" sz="200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/>
              <a:t>Software development life cycle (SDLC)</a:t>
            </a:r>
            <a:endParaRPr lang="en-US" sz="3200" b="1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>
                <a:latin typeface="+mj-lt"/>
                <a:ea typeface="PMingLiU" pitchFamily="18" charset="-120"/>
              </a:rPr>
            </a:br>
            <a:endParaRPr lang="en-US" altLang="zh-TW" sz="220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>
                <a:latin typeface="+mj-lt"/>
                <a:ea typeface="PMingLiU" pitchFamily="18" charset="-120"/>
              </a:rPr>
              <a:t>  </a:t>
            </a:r>
            <a:r>
              <a:rPr lang="en-US" altLang="zh-TW" sz="220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>
                <a:latin typeface="+mj-lt"/>
              </a:rPr>
              <a:t>(control computer hardware such as OS)</a:t>
            </a:r>
          </a:p>
          <a:p>
            <a:r>
              <a:rPr lang="en-US" altLang="zh-TW" sz="220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>
                <a:latin typeface="+mj-lt"/>
              </a:rPr>
              <a:t>Enterprise Resource Planning</a:t>
            </a:r>
          </a:p>
          <a:p>
            <a:r>
              <a:rPr lang="en-US" altLang="zh-TW" sz="2200">
                <a:latin typeface="+mj-lt"/>
              </a:rPr>
              <a:t>  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>
                <a:latin typeface="+mj-lt"/>
              </a:rPr>
              <a:t>(e.g. statistical analysis-SPSS, </a:t>
            </a:r>
            <a:r>
              <a:rPr lang="en-US" altLang="zh-TW" sz="2200" err="1">
                <a:latin typeface="+mj-lt"/>
              </a:rPr>
              <a:t>Matlab</a:t>
            </a:r>
            <a:r>
              <a:rPr lang="en-US" altLang="zh-TW" sz="2200">
                <a:latin typeface="+mj-lt"/>
              </a:rPr>
              <a:t>)</a:t>
            </a:r>
          </a:p>
          <a:p>
            <a:r>
              <a:rPr lang="en-US" altLang="zh-TW" sz="2200">
                <a:latin typeface="+mj-lt"/>
              </a:rPr>
              <a:t>  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>
                <a:latin typeface="+mj-lt"/>
              </a:rPr>
              <a:t>(e.g. biometric device)</a:t>
            </a:r>
          </a:p>
          <a:p>
            <a:r>
              <a:rPr lang="en-US" altLang="zh-TW" sz="2200">
                <a:latin typeface="+mj-lt"/>
              </a:rPr>
              <a:t>  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>
                <a:latin typeface="+mj-lt"/>
              </a:rPr>
              <a:t>(e.g. Microsoft Office)</a:t>
            </a:r>
          </a:p>
          <a:p>
            <a:r>
              <a:rPr lang="en-US" altLang="zh-TW" sz="2200">
                <a:latin typeface="+mj-lt"/>
              </a:rPr>
              <a:t>  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>
                <a:latin typeface="+mj-lt"/>
              </a:rPr>
              <a:t>(use over the internet with a browser, e.g. Gmail) </a:t>
            </a:r>
          </a:p>
          <a:p>
            <a:r>
              <a:rPr lang="en-US" altLang="zh-TW" sz="2200">
                <a:latin typeface="+mj-lt"/>
              </a:rPr>
              <a:t>  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>
                <a:solidFill>
                  <a:srgbClr val="FF0000"/>
                </a:solidFill>
              </a:rPr>
              <a:t>Myth 1:</a:t>
            </a:r>
            <a:r>
              <a:rPr lang="en-US" altLang="zh-TW" sz="2200" i="1"/>
              <a:t> </a:t>
            </a:r>
            <a:r>
              <a:rPr lang="en-US" altLang="zh-TW" sz="2200">
                <a:latin typeface="+mj-lt"/>
              </a:rPr>
              <a:t>We already have a book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>
                <a:solidFill>
                  <a:srgbClr val="FF0000"/>
                </a:solidFill>
              </a:rPr>
              <a:t>:</a:t>
            </a:r>
            <a:r>
              <a:rPr lang="en-US" altLang="zh-TW" sz="2200">
                <a:latin typeface="+mj-lt"/>
              </a:rPr>
              <a:t> My people have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>
                <a:latin typeface="+mj-lt"/>
              </a:rPr>
              <a:t>we buy them the newest computers.</a:t>
            </a:r>
            <a:br>
              <a:rPr lang="en-US" altLang="zh-TW" sz="2200">
                <a:latin typeface="+mj-lt"/>
              </a:rPr>
            </a:br>
            <a:endParaRPr lang="zh-TW" altLang="en-US" sz="2200">
              <a:latin typeface="+mj-lt"/>
            </a:endParaRPr>
          </a:p>
          <a:p>
            <a:pPr>
              <a:defRPr/>
            </a:pPr>
            <a:r>
              <a:rPr lang="en-US" altLang="zh-TW" sz="220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>
                <a:solidFill>
                  <a:srgbClr val="FF0000"/>
                </a:solidFill>
              </a:rPr>
              <a:t>: </a:t>
            </a:r>
            <a:r>
              <a:rPr lang="en-US" altLang="zh-TW" sz="2200">
                <a:latin typeface="+mj-lt"/>
              </a:rPr>
              <a:t>If we get behind schedule, we can add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>
                <a:latin typeface="+mj-lt"/>
              </a:rPr>
              <a:t>and catch up.</a:t>
            </a:r>
            <a:br>
              <a:rPr lang="en-US" altLang="zh-TW" sz="2200">
                <a:latin typeface="+mj-lt"/>
              </a:rPr>
            </a:br>
            <a:endParaRPr lang="en-US" altLang="zh-TW" sz="2200">
              <a:latin typeface="+mj-lt"/>
            </a:endParaRPr>
          </a:p>
          <a:p>
            <a:pPr>
              <a:defRPr/>
            </a:pPr>
            <a:r>
              <a:rPr lang="en-US" altLang="zh-TW" sz="220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>
                <a:solidFill>
                  <a:srgbClr val="FF0000"/>
                </a:solidFill>
              </a:rPr>
              <a:t>:</a:t>
            </a:r>
            <a:r>
              <a:rPr lang="en-US" altLang="zh-TW" sz="2200" i="1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>
                <a:latin typeface="+mj-lt"/>
              </a:rPr>
              <a:t>If I outsource the software </a:t>
            </a:r>
            <a:r>
              <a:rPr lang="en-US" altLang="zh-TW" sz="220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>
                <a:latin typeface="+mj-lt"/>
              </a:rPr>
              <a:t>I can relax and let that firm build it.</a:t>
            </a:r>
          </a:p>
          <a:p>
            <a:endParaRPr lang="en-US" altLang="zh-TW" sz="22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Myths (client)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>
                <a:latin typeface="+mj-lt"/>
              </a:rPr>
              <a:t>A </a:t>
            </a:r>
            <a:r>
              <a:rPr lang="en-US" altLang="zh-TW" sz="220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>
                <a:latin typeface="+mj-lt"/>
              </a:rPr>
            </a:br>
            <a:endParaRPr lang="en-US" altLang="zh-TW" sz="2200">
              <a:latin typeface="+mj-lt"/>
            </a:endParaRPr>
          </a:p>
          <a:p>
            <a:r>
              <a:rPr lang="en-US" altLang="zh-TW" sz="220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>
                <a:latin typeface="+mj-lt"/>
              </a:rPr>
              <a:t> Project requirements continually change, but </a:t>
            </a:r>
            <a:r>
              <a:rPr lang="en-US" altLang="zh-TW" sz="220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>
                <a:latin typeface="+mj-lt"/>
              </a:rPr>
              <a:t> Our job is done once we write the program and get it to work.</a:t>
            </a:r>
            <a:br>
              <a:rPr lang="en-US" altLang="zh-TW" sz="2200">
                <a:latin typeface="+mj-lt"/>
              </a:rPr>
            </a:br>
            <a:endParaRPr lang="en-US" altLang="zh-TW" sz="220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>
                <a:latin typeface="+mj-lt"/>
              </a:rPr>
              <a:t>Fact: </a:t>
            </a:r>
            <a:r>
              <a:rPr lang="en-US" altLang="zh-TW" sz="2200" i="1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>
                <a:solidFill>
                  <a:srgbClr val="FF0000"/>
                </a:solidFill>
                <a:latin typeface="+mj-lt"/>
              </a:rPr>
            </a:br>
            <a:endParaRPr lang="en-US" altLang="zh-TW" sz="220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>
                <a:latin typeface="+mj-lt"/>
              </a:rPr>
              <a:t>I cannot assess the program's quality until it is “running. "</a:t>
            </a:r>
            <a:br>
              <a:rPr lang="en-US" altLang="zh-TW" sz="2200">
                <a:latin typeface="+mj-lt"/>
              </a:rPr>
            </a:br>
            <a:endParaRPr lang="en-US" altLang="zh-TW" sz="220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>
                <a:latin typeface="+mj-lt"/>
              </a:rPr>
              <a:t> The working program is the only deliverable work product for a successful project.</a:t>
            </a:r>
            <a:br>
              <a:rPr lang="en-US" altLang="zh-TW" sz="2200">
                <a:latin typeface="+mj-lt"/>
              </a:rPr>
            </a:br>
            <a:endParaRPr lang="en-US" altLang="zh-TW" sz="220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>
                <a:latin typeface="+mj-lt"/>
              </a:rPr>
              <a:t> </a:t>
            </a:r>
            <a:r>
              <a:rPr lang="en-US" altLang="zh-TW" sz="2200">
                <a:latin typeface="+mj-lt"/>
              </a:rPr>
              <a:t>Software engineering will make us create very large and unnecessary documentation, invariably slowing us down.</a:t>
            </a:r>
            <a:endParaRPr lang="zh-TW" altLang="en-US" sz="2200">
              <a:latin typeface="+mj-lt"/>
            </a:endParaRPr>
          </a:p>
          <a:p>
            <a:pPr>
              <a:defRPr/>
            </a:pPr>
            <a:endParaRPr lang="en-US" altLang="zh-TW" sz="22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>
                <a:latin typeface="+mj-lt"/>
              </a:rPr>
              <a:t>The system fails to meet the </a:t>
            </a:r>
            <a:r>
              <a:rPr lang="en-GB" altLang="en-US" sz="200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>
                <a:latin typeface="+mj-lt"/>
              </a:rPr>
              <a:t>for which it was developed. The system is either </a:t>
            </a:r>
            <a:r>
              <a:rPr lang="en-GB" altLang="en-US" sz="200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>
                <a:latin typeface="+mj-lt"/>
              </a:rPr>
              <a:t> or </a:t>
            </a:r>
            <a:r>
              <a:rPr lang="en-GB" altLang="en-US" sz="200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>
                <a:latin typeface="+mj-lt"/>
              </a:rPr>
              <a:t>There are </a:t>
            </a:r>
            <a:r>
              <a:rPr lang="en-GB" altLang="en-US" sz="200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>
                <a:latin typeface="+mj-lt"/>
              </a:rPr>
              <a:t> appear in the developed system causing unexpected problems. </a:t>
            </a:r>
            <a:r>
              <a:rPr lang="en-GB" altLang="en-US" sz="200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>
                <a:latin typeface="+mj-lt"/>
              </a:rPr>
              <a:t>Systems are initially accepted but over time </a:t>
            </a:r>
            <a:r>
              <a:rPr lang="en-GB" altLang="en-US" sz="200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>
                <a:latin typeface="+mj-lt"/>
              </a:rPr>
              <a:t>and so pass into disuse.</a:t>
            </a:r>
            <a:endParaRPr lang="en-GB" sz="2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aad5d91-f2db-4a1b-9283-0f202a4efe7d" xsi:nil="true"/>
    <lcf76f155ced4ddcb4097134ff3c332f xmlns="76186025-a0d9-4e7f-b068-4d7f27a934a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10" ma:contentTypeDescription="Create a new document." ma:contentTypeScope="" ma:versionID="18a4478b7a5d85283943c10d4bd550ff">
  <xsd:schema xmlns:xsd="http://www.w3.org/2001/XMLSchema" xmlns:xs="http://www.w3.org/2001/XMLSchema" xmlns:p="http://schemas.microsoft.com/office/2006/metadata/properties" xmlns:ns2="76186025-a0d9-4e7f-b068-4d7f27a934af" xmlns:ns3="3aad5d91-f2db-4a1b-9283-0f202a4efe7d" targetNamespace="http://schemas.microsoft.com/office/2006/metadata/properties" ma:root="true" ma:fieldsID="a371746d78ffa5237a8710cca61c9628" ns2:_="" ns3:_="">
    <xsd:import namespace="76186025-a0d9-4e7f-b068-4d7f27a934af"/>
    <xsd:import namespace="3aad5d91-f2db-4a1b-9283-0f202a4efe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ad5d91-f2db-4a1b-9283-0f202a4efe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fd639f0-e65f-4133-80a1-534f8fa40555}" ma:internalName="TaxCatchAll" ma:showField="CatchAllData" ma:web="3aad5d91-f2db-4a1b-9283-0f202a4ef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0423AC-2CF4-4F9E-B4D4-B26F22F7915A}">
  <ds:schemaRefs>
    <ds:schemaRef ds:uri="3aad5d91-f2db-4a1b-9283-0f202a4efe7d"/>
    <ds:schemaRef ds:uri="76186025-a0d9-4e7f-b068-4d7f27a934a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708C70-225C-472B-B2B3-7CE46D6DC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C94914-79A3-4F04-B68A-43786D3F9D2E}">
  <ds:schemaRefs>
    <ds:schemaRef ds:uri="3aad5d91-f2db-4a1b-9283-0f202a4efe7d"/>
    <ds:schemaRef ds:uri="76186025-a0d9-4e7f-b068-4d7f27a934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Dividend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revision>2</cp:revision>
  <dcterms:created xsi:type="dcterms:W3CDTF">2019-05-13T08:37:20Z</dcterms:created>
  <dcterms:modified xsi:type="dcterms:W3CDTF">2026-02-16T10:03:28Z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  <property fmtid="{D5CDD505-2E9C-101B-9397-08002B2CF9AE}" pid="3" name="MediaServiceImageTags">
    <vt:lpwstr/>
  </property>
</Properties>
</file>